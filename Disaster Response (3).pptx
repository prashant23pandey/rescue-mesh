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3" r:id="rId5"/>
    <p:sldId id="262" r:id="rId6"/>
    <p:sldId id="260" r:id="rId7"/>
    <p:sldId id="261" r:id="rId8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hJstJcfAVJBE/QdNDUTPtijbEl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7" d="100"/>
          <a:sy n="27" d="100"/>
        </p:scale>
        <p:origin x="43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BBD9B8C-D0F1-E018-ACF9-9C0B2DFB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489DB030-CD7A-7364-9520-DE017190D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19DD37C9-77E1-C4A2-908F-C7204E587F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4883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86077F4-4703-9F3F-8377-05EE21EF6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>
            <a:extLst>
              <a:ext uri="{FF2B5EF4-FFF2-40B4-BE49-F238E27FC236}">
                <a16:creationId xmlns:a16="http://schemas.microsoft.com/office/drawing/2014/main" id="{F889934F-3437-C468-8C16-8E598E2121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3BA6AFB8-4AAB-1311-F955-80B45615C7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7911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5338578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3389/fmolb.2026.1750124" TargetMode="External"/><Relationship Id="rId4" Type="http://schemas.openxmlformats.org/officeDocument/2006/relationships/hyperlink" Target="https://doi.org/10.1109/ACCESS.2026.36548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BC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9006222" y="4274503"/>
            <a:ext cx="275555" cy="15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30424" y="263074"/>
            <a:ext cx="17200375" cy="9339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5"/>
              </a:lnSpc>
            </a:pPr>
            <a:r>
              <a:rPr lang="en-US" sz="6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695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</a:t>
            </a:r>
            <a:r>
              <a:rPr lang="en-US" sz="6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40005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immediate aftermath of a large-scale disaster, the "Information Gap" between ground-level victims and relief providers leads to systemic failure. Current systems rely on centralized networks that often collapse, causing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misallocation of life critical resources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(medical kits, food, water) and leaving "shadow zones" with zero aid.​ The challenge is to build 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resilient, decentralized platform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can autonomously prioritize and route resources in a disconnected environment. Success is measured by the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reduction in ‘Response Latency’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time elapsed between a crisis event and the arrival of the specific resource required while maintaining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transparency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stakeholders</a:t>
            </a:r>
            <a:r>
              <a:rPr lang="en-US" sz="4000" dirty="0"/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BC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9006222" y="4274503"/>
            <a:ext cx="275555" cy="15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06" name="Google Shape;106;p3"/>
          <p:cNvSpPr txBox="1"/>
          <p:nvPr/>
        </p:nvSpPr>
        <p:spPr>
          <a:xfrm>
            <a:off x="901358" y="355600"/>
            <a:ext cx="16821866" cy="9684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5"/>
              </a:lnSpc>
            </a:pPr>
            <a:r>
              <a:rPr lang="en-US" sz="6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US" sz="695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Proposed Solution</a:t>
            </a:r>
          </a:p>
          <a:p>
            <a:pPr>
              <a:lnSpc>
                <a:spcPct val="140005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a Modular Decentralized Response Framework that combines low-power hardware with a distributed software mesh to ensure aid reaches the right person, even when the internet is down.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The Connectivity Layer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"The Digital Safety Net"​Instead of relying on cell towers, the system uses LoRa-based Mesh Nodes. These are small, battery-powered devices that create a local communication web.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Intelligence Layer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"AI Priority Engine"​A lightweight AI model processes incoming requests and categorizes them using a Triaging Algorithm.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Logistics Layer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"Smart Resource Ledger"​Using a Decentralized Ledger (Blockchain-lite), the system creates a single source of truth for supplies.​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Interface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"The Ground-Zero App"​A simplified, multilingual mobile interface designed for high-stress situations.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BCA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9006222" y="4274503"/>
            <a:ext cx="275555" cy="15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733946" y="-84878"/>
            <a:ext cx="17554053" cy="1027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Technical Approach</a:t>
            </a:r>
            <a:endParaRPr lang="en-US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"Information Blackouts" during disasters. When 4G/5G networks fail, centralized aid systems collapse, leaving rescuers blind to high-priority "Last-Mile" needs.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Technical Approach: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Connectivity: </a:t>
            </a:r>
            <a:r>
              <a:rPr lang="en-US" sz="3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LoRaWAN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Mesh Network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(ESP32 hardware) for peer-to-peer data hopping without internet.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Sync: CRDTs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(Conflict-free Replicated Data Types) for offline data merging across distributed devices.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Intelligence: TensorFlow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 at the edge for autonomous SOS triaging and urgency ranking.</a:t>
            </a:r>
          </a:p>
          <a:p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Logistics: Dynamic Dijkstra Algorithm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routing based on crowdsourced obstacle reports.</a:t>
            </a:r>
          </a:p>
          <a:p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infrastructure-independent platform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captures SOS signals via radio, uses AI to prioritize life-threatening cases, and optimizes delivery routes using a decentralized supply ledger. Eliminates response delays by matching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Need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Nearest Resource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"Internet-Dark" zones.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BCA"/>
        </a:solidFill>
        <a:effectLst/>
      </p:bgPr>
    </p:bg>
    <p:spTree>
      <p:nvGrpSpPr>
        <p:cNvPr id="1" name="Shape 112">
          <a:extLst>
            <a:ext uri="{FF2B5EF4-FFF2-40B4-BE49-F238E27FC236}">
              <a16:creationId xmlns:a16="http://schemas.microsoft.com/office/drawing/2014/main" id="{81E637AF-6886-B5CA-4988-A5B070B2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>
            <a:extLst>
              <a:ext uri="{FF2B5EF4-FFF2-40B4-BE49-F238E27FC236}">
                <a16:creationId xmlns:a16="http://schemas.microsoft.com/office/drawing/2014/main" id="{0106EB4B-167A-4CB9-47DD-612A1130D87F}"/>
              </a:ext>
            </a:extLst>
          </p:cNvPr>
          <p:cNvSpPr txBox="1"/>
          <p:nvPr/>
        </p:nvSpPr>
        <p:spPr>
          <a:xfrm>
            <a:off x="9006222" y="4274503"/>
            <a:ext cx="275555" cy="15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9FABD3-AA42-8628-A4DD-699C988F8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5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BCA"/>
        </a:solidFill>
        <a:effectLst/>
      </p:bgPr>
    </p:bg>
    <p:spTree>
      <p:nvGrpSpPr>
        <p:cNvPr id="1" name="Shape 120">
          <a:extLst>
            <a:ext uri="{FF2B5EF4-FFF2-40B4-BE49-F238E27FC236}">
              <a16:creationId xmlns:a16="http://schemas.microsoft.com/office/drawing/2014/main" id="{4264616A-4008-4008-CE7A-663F54F61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3492C724-50F5-D367-3084-C52C44FEA768}"/>
              </a:ext>
            </a:extLst>
          </p:cNvPr>
          <p:cNvSpPr txBox="1"/>
          <p:nvPr/>
        </p:nvSpPr>
        <p:spPr>
          <a:xfrm>
            <a:off x="9006222" y="4274503"/>
            <a:ext cx="275555" cy="15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76E6DB8E-A28B-644E-3725-1D128F9F2383}"/>
              </a:ext>
            </a:extLst>
          </p:cNvPr>
          <p:cNvSpPr txBox="1"/>
          <p:nvPr/>
        </p:nvSpPr>
        <p:spPr>
          <a:xfrm>
            <a:off x="600791" y="0"/>
            <a:ext cx="17086417" cy="1011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5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Impact and Benefits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​1. Zero-Infrastructure Reliability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​Benefit: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entirely without cellular or internet coverage.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"Information Blackouts," ensuring victims in remote or destroyed areas are never invisible to rescue teams.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Radical Response Efficiency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​Benefit: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automated triaging.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"Response Latency" by over 40% by prioritizing life-critical needs (medical/water) over non-urgent requests instantly.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Optimized Resource Allocation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​Benefit: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decentralized inventory tracking.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​Impact: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resource clustering (where aid is doubled in one area and zero in another), ensuring 100% supply chain transparency.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​​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Cost-Effective Scalability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​Benefit: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low-cost hardware (ESP32/LoRa) and edge computing.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government and NGOs to deploy large-scale safety nets at a fraction of the cost of traditional satellite-based systems.</a:t>
            </a:r>
          </a:p>
        </p:txBody>
      </p:sp>
    </p:spTree>
    <p:extLst>
      <p:ext uri="{BB962C8B-B14F-4D97-AF65-F5344CB8AC3E}">
        <p14:creationId xmlns:p14="http://schemas.microsoft.com/office/powerpoint/2010/main" val="369831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BC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9006222" y="4274503"/>
            <a:ext cx="275555" cy="15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537291" y="263074"/>
            <a:ext cx="1708641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​5. Dynamic Navigation Safety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​Benefit: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Crowdsourced hazard mapping.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first responders by providing real-time route adjustments based on ground-level obstacle reports (e.g., bridge collapses or floods).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38114D-2FF0-7882-DD0F-AFA2F4D8A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340" y="2773051"/>
            <a:ext cx="12581319" cy="70807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CBCA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/>
        </p:nvSpPr>
        <p:spPr>
          <a:xfrm>
            <a:off x="9006222" y="4274503"/>
            <a:ext cx="275555" cy="1566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663789" y="251525"/>
            <a:ext cx="17155157" cy="994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Research and references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Research Pillars​: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Convergence: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studies confirm that </a:t>
            </a:r>
            <a:r>
              <a:rPr lang="en-US" sz="3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LoRaWAN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37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AIoT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 are the gold standard for "Internet-Dark" disaster zones, maintaining connectivity where 5G fails.​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Synchronization: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into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CRDTs (Conflict-free Replicated Data Types)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proves they achieve near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 in decentralized mobile environments without central servers.​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Triage: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shows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NLP models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(Small Language Models) deployed on edge devices significantly reduce "Response Latency" by automating victim prioritization.​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Logistics: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 projects demonstrate that </a:t>
            </a: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Ledgers </a:t>
            </a:r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resource hoarding and improve "Swift Trust" between fragmented NGOs.​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References:</a:t>
            </a: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https://www.researchgate.net/publication/353385784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https://doi.org/10.1109/ACCESS.2026.3654863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https://doi.org/10.3389/fmolb.2026.1750124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774</Words>
  <Application>Microsoft Office PowerPoint</Application>
  <PresentationFormat>Custom</PresentationFormat>
  <Paragraphs>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Prashant Pandey</dc:creator>
  <cp:lastModifiedBy>Prashant Pandey</cp:lastModifiedBy>
  <cp:revision>69</cp:revision>
  <dcterms:created xsi:type="dcterms:W3CDTF">2006-08-16T00:00:00Z</dcterms:created>
  <dcterms:modified xsi:type="dcterms:W3CDTF">2026-06-03T08:11:06Z</dcterms:modified>
</cp:coreProperties>
</file>